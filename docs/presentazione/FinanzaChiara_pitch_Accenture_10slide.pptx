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 SPEAKER — Slide 1 (~25s)
Buongiorno. FinanzaChiara nasce da una domanda semplice: perché così tante persone pagano bollette e prestiti senza capire cosa c'è scritto? In cinque minuti vi mostriamo il prodotto e il metodo con cui l'abbiamo costruito.
Totale note speaker ~590 parole — ~4'00"–4'15" a ritmo da pitch, più la demo dal vivo (slide 5) e le pause: resta entro i 5 minuti con margine ridotto.
[Sources]
- Note speaker riprese testualmente da scaletta-pitch-5min.md (file fornito dall’utente, rev. 2026-09-14).
- Copy delle slide da copy-slide-chiave.md (file fornito dall’utente).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 SPEAKER — Slide 2 (~35s)
Ogni mese milioni di persone ricevono documenti che non riescono a leggere. La bolletta della luce parla di oneri di sistema e dispacciamento; il contratto di prestito di TAEG e piano di ammortamento. Il risultato è sempre lo stesso: si paga senza capire, senza poter controllare se c'è un errore, senza strumenti per capire cosa incide davvero sul costo.
Totale note speaker ~590 parole — ~4'00"–4'15" a ritmo da pitch, più la demo dal vivo (slide 5) e le pause: resta entro i 5 minuti con margine ridotto.
[Sources]
- Note speaker riprese testualmente da scaletta-pitch-5min.md (file fornito dall’utente, rev. 2026-09-14).
- Copy delle slide da copy-slide-chiave.md (file fornito dall’utente).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 SPEAKER — Slide 3 (~35s)
FinanzaChiara è un'app che spiega bolletta della luce e prestito personale. Il cuore è la scelta del livello di linguaggio: semplice, per chi vuole parole di tutti i giorni; chiaro, un ponte verso i termini del settore; tecnico, la terminologia esatta. L'utente sceglie e tutta l'app si adatta: stesse informazioni, al grado di dettaglio che riesce a gestire.
Totale note speaker ~590 parole — ~4'00"–4'15" a ritmo da pitch, più la demo dal vivo (slide 5) e le pause: resta entro i 5 minuti con margine ridotto.
[Sources]
- Note speaker riprese testualmente da scaletta-pitch-5min.md (file fornito dall’utente, rev. 2026-09-14).
- Copy delle slide da copy-slide-chiave.md (file fornito dall’utente).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 SPEAKER — Slide 4 (~30s)
Un esempio reale, la voce oneri di sistema. Prima suona così: importi destinati alla copertura di costi di interesse generale ai sensi della normativa vigente. Dopo, al livello semplice: una parte fissa che copre spese decise a livello nazionale, per esempio gli incentivi alle rinnovabili. Stesso importo, stesso fatto. Ma ora si capisce.
Totale note speaker ~590 parole — ~4'00"–4'15" a ritmo da pitch, più la demo dal vivo (slide 5) e le pause: resta entro i 5 minuti con margine ridotto.
[Sources]
- Note speaker riprese testualmente da scaletta-pitch-5min.md (file fornito dall’utente, rev. 2026-09-14).
- Copy delle slide da copy-slide-chiave.md (file fornito dall’utente).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 SPEAKER — Slide 5 (demo dal vivo — npm run dev)
L'app è organizzata in tre stanze. Dall'Hub si sceglie il livello e si entra. Nella stanza Bolletta ogni voce è spiegata, e un simulatore permette di muovere il consumo in kWh per vedere come cambiano i costi. Nella stanza Rata mostriamo il piano di ammortamento e il costo reale di un prestito: quanto si paga in totale, quanto è capitale e quanto interesse. Un glossario cliccabile è sempre a portata.
Totale note speaker ~590 parole — ~4'00"–4'15" a ritmo da pitch, più la demo dal vivo (slide 5) e le pause: resta entro i 5 minuti con margine ridotto.
[Sources]
- Note speaker riprese testualmente da scaletta-pitch-5min.md (file fornito dall’utente, rev. 2026-09-14).
- Copy delle slide da copy-slide-chiave.md (file fornito dall’utente).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 SPEAKER — Slide 6
Qui c'è la nostra regola, e vale in ogni riga: descrivere il meccanismo, mai suggerire la mossa. Non indichiamo cosa fare; spieghiamo come funziona un numero e lasciamo la decisione all'utente. E semplifichiamo il linguaggio, mai i numeri: il calcolo del TAEG e il piano di ammortamento seguono la matematica reale. Se un importo è alto, resta alto e spieghiamo perché. Si capisce di più, ma non si viene mai ingannati.
Totale note speaker ~590 parole — ~4'00"–4'15" a ritmo da pitch, più la demo dal vivo (slide 5) e le pause: resta entro i 5 minuti con margine ridotto.
[Sources]
- Note speaker riprese testualmente da scaletta-pitch-5min.md (file fornito dall’utente, rev. 2026-09-14).
- Copy delle slide da copy-slide-chiave.md (file fornito dall’utente).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 SPEAKER — Slide 7
E qui la seconda metà della storia: come l'abbiamo costruita. Non un solo sviluppatore, ma una pipeline di agenti orchestrati, ciascuno con un ruolo. Un Orchestrator su Claude Opus coordina e verifica le dipendenze. Gli agenti Sonnet scrivono, rivedono e testano il codice. Un agente Haiku, più leggero, apre le PR e aggiorna il project board. Ogni Issue passa da mani diverse: sviluppo, revisione, test, chiusura.
Totale note speaker ~590 parole — ~4'00"–4'15" a ritmo da pitch, più la demo dal vivo (slide 5) e le pause: resta entro i 5 minuti con margine ridotto.
[Sources]
- Note speaker riprese testualmente da scaletta-pitch-5min.md (file fornito dall’utente, rev. 2026-09-14).
- Copy delle slide da copy-slide-chiave.md (file fornito dall’utente).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 SPEAKER — Slide 8
Il flusso è tema, design, mvp. Dal tema e dai vincoli, un agente ha prodotto il design doc; la pipeline ha poi implementato otto Issue, ordinate per dipendenze. Il punto è il parallelismo: dove le Issue erano indipendenti, più agenti hanno lavorato insieme, in due finestre. Context e dati prima; poi stanze e glossario. Il piano stimava circa due ore di sviluppo sulla critical path, contro uno sviluppo tutto in fila.
Totale note speaker ~590 parole — ~4'00"–4'15" a ritmo da pitch, più la demo dal vivo (slide 5) e le pause: resta entro i 5 minuti con margine ridotto.
[Sources]
- Note speaker riprese testualmente da scaletta-pitch-5min.md (file fornito dall’utente, rev. 2026-09-14).
- Copy delle slide da copy-slide-chiave.md (file fornito dall’utente).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 SPEAKER — Slide 9 (slide più comprimibile se serve recuperare tempo)
Oggi mostriamo una bolletta d'esempio; dove vogliamo arrivare è la tua. Carichi il documento vero, un agente ne estrae le voci e l'app le spiega al tuo livello — sempre spiegare, mai consigliare. Poi nuovi scenari, dall'estratto conto alla busta paga, e agenti che tengono i contenuti allineati alle norme quando cambia una tariffa. Lo stesso perimetro etico, più in grande.
Totale note speaker ~590 parole — ~4'00"–4'15" a ritmo da pitch, più la demo dal vivo (slide 5) e le pause: resta entro i 5 minuti con margine ridotto.
[Sources]
- Note speaker riprese testualmente da scaletta-pitch-5min.md (file fornito dall’utente, rev. 2026-09-14).
- Copy delle slide da copy-slide-chiave.md (file fornito dall’utente).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 SPEAKER — Slide 10
Chiudiamo con quello che lasciamo: un metodo che funziona — repo, board e una squadra di agenti che ha costruito l'MVP, con il codice su Git — e un prodotto funzionante, testato end-to-end, con una visione chiara di dove arrivare. Ma il messaggio da ricordare è uno solo: la chiarezza non si ottiene nascondendo i numeri, si ottiene spiegandoli. Le vostre bollette e i vostri prestiti, finalmente in chiaro. Grazie.
Totale note speaker ~590 parole — ~4'00"–4'15" a ritmo da pitch, più la demo dal vivo (slide 5) e le pause: resta entro i 5 minuti con margine ridotto.
[Sources]
- Note speaker riprese testualmente da scaletta-pitch-5min.md (file fornito dall’utente, rev. 2026-09-14).
- Copy delle slide da copy-slide-chiave.md (file fornito dall’utente).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C_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54710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15568" y="6524244"/>
            <a:ext cx="2926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&gt;_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921240" y="654710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© 2026 Accenture. All rights reserved.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A5A5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C_DARK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54710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15568" y="6524244"/>
            <a:ext cx="2926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&gt;_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921240" y="654710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C2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© 2026 Accenture. All rights reserved.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C2C2C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A5A5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9646920" y="0"/>
            <a:ext cx="2542032" cy="6446520"/>
          </a:xfrm>
          <a:prstGeom prst="rect">
            <a:avLst/>
          </a:prstGeom>
          <a:solidFill>
            <a:srgbClr val="18002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61320" y="0"/>
            <a:ext cx="1627632" cy="6446520"/>
          </a:xfrm>
          <a:prstGeom prst="rect">
            <a:avLst/>
          </a:prstGeom>
          <a:solidFill>
            <a:srgbClr val="A100FF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Accenture &gt;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993392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FinanzaChiara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21792" y="2871216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FFFFFF"/>
                </a:solidFill>
              </a:rPr>
              <a:t>Le tue bollette e i tuoi prestiti, finalmente in chiaro.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21792" y="371246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C5E8"/>
                </a:solidFill>
              </a:rPr>
              <a:t>Il prodotto e il metodo in 5 minuti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" y="4224528"/>
            <a:ext cx="1874520" cy="1"/>
          </a:xfrm>
          <a:prstGeom prst="line">
            <a:avLst/>
          </a:prstGeom>
          <a:noFill/>
          <a:ln w="63500">
            <a:solidFill>
              <a:srgbClr val="A100F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C2C2C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Documenti che nessuno riesce a leggere</a:t>
            </a:r>
            <a:endParaRPr lang="en-US" sz="2600" dirty="0"/>
          </a:p>
        </p:txBody>
      </p:sp>
      <p:pic>
        <p:nvPicPr>
          <p:cNvPr id="3" name="Image 0" descr="/mnt/data/work_finanzachiara/ed97e80ba4.png"/>
          <p:cNvPicPr>
            <a:picLocks noChangeAspect="1"/>
          </p:cNvPicPr>
          <p:nvPr/>
        </p:nvPicPr>
        <p:blipFill>
          <a:blip r:embed="rId3"/>
          <a:srcRect l="14876" r="14876"/>
          <a:stretch/>
        </p:blipFill>
        <p:spPr>
          <a:xfrm>
            <a:off x="6629400" y="1170432"/>
            <a:ext cx="5559552" cy="52760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13258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50073"/>
                </a:solidFill>
              </a:rPr>
              <a:t>BOLLETTE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66928" y="1636776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50505"/>
                </a:solidFill>
              </a:rPr>
              <a:t>“oneri di sistema” · “quota potenza” · “dispacciamento”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66928" y="265176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50073"/>
                </a:solidFill>
              </a:rPr>
              <a:t>PRESTITI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66928" y="2962656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50505"/>
                </a:solidFill>
              </a:rPr>
              <a:t>“TAEG” · “TAN” · “piano di ammortamento”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66928" y="39776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50073"/>
                </a:solidFill>
              </a:rPr>
              <a:t>CONSEGUENZA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6928" y="4288536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0505"/>
                </a:solidFill>
              </a:rPr>
              <a:t>Si paga senza capire, senza poter verificare un errore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66928" y="544068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50073"/>
                </a:solidFill>
              </a:rPr>
              <a:t>“Ogni mese arriva un documento che parla una lingua che non abbiamo mai imparato.”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A5A5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stesse informazioni, al tuo livello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sola app. Tre modi di spiegare. Nessuna alterazione dei dati.</a:t>
            </a:r>
            <a:endParaRPr lang="en-US" sz="1200" dirty="0"/>
          </a:p>
        </p:txBody>
      </p:sp>
      <p:pic>
        <p:nvPicPr>
          <p:cNvPr id="4" name="Image 0" descr="/mnt/data/work_finanzachiara/cec8b424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408176"/>
            <a:ext cx="617220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481328"/>
            <a:ext cx="4343400" cy="868680"/>
          </a:xfrm>
          <a:prstGeom prst="roundRect">
            <a:avLst>
              <a:gd name="adj" fmla="val 6316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1248" y="1645920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SEMPLICE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066544" y="161848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EDED"/>
                </a:solidFill>
              </a:rPr>
              <a:t>Parole di tutti i giorni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94360" y="2743200"/>
            <a:ext cx="4343400" cy="868680"/>
          </a:xfrm>
          <a:prstGeom prst="roundRect">
            <a:avLst>
              <a:gd name="adj" fmla="val 6316"/>
            </a:avLst>
          </a:prstGeom>
          <a:solidFill>
            <a:srgbClr val="1B1024"/>
          </a:solidFill>
          <a:ln w="25400">
            <a:solidFill>
              <a:srgbClr val="A100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" y="2907792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1A3FF"/>
                </a:solidFill>
              </a:rPr>
              <a:t>CHIARO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066544" y="28803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EDED"/>
                </a:solidFill>
              </a:rPr>
              <a:t>Un ponte verso i termini del settore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94360" y="4005072"/>
            <a:ext cx="4343400" cy="868680"/>
          </a:xfrm>
          <a:prstGeom prst="roundRect">
            <a:avLst>
              <a:gd name="adj" fmla="val 6316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" y="4169664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TECNICO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066544" y="414223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EDED"/>
                </a:solidFill>
              </a:rPr>
              <a:t>Terminologia e dettaglio esatti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12648" y="544068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L’utente sceglie il livello. Tutta l’app si adatta.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C2C2C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Stesso importo, ora si capisce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 il linguaggio, non il dato.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5555"/>
                </a:solidFill>
              </a:rPr>
              <a:t>PRIMA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4526280" cy="2194560"/>
          </a:xfrm>
          <a:prstGeom prst="roundRect">
            <a:avLst>
              <a:gd name="adj" fmla="val 2500"/>
            </a:avLst>
          </a:prstGeom>
          <a:solidFill>
            <a:srgbClr val="F3F3F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12848"/>
            <a:ext cx="3886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4A4A4A"/>
                </a:solidFill>
              </a:rPr>
              <a:t>“importi destinati alla copertura di costi di interesse generale… ai sensi della normativa vigente”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340096" y="2880360"/>
            <a:ext cx="1289304" cy="1"/>
          </a:xfrm>
          <a:prstGeom prst="line">
            <a:avLst/>
          </a:prstGeom>
          <a:noFill/>
          <a:ln w="25400">
            <a:solidFill>
              <a:srgbClr val="A100FF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685800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50073"/>
                </a:solidFill>
              </a:rPr>
              <a:t>DOPO · SEMPLICE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12280" y="1783080"/>
            <a:ext cx="4709160" cy="2194560"/>
          </a:xfrm>
          <a:prstGeom prst="roundRect">
            <a:avLst>
              <a:gd name="adj" fmla="val 2500"/>
            </a:avLst>
          </a:prstGeom>
          <a:solidFill>
            <a:srgbClr val="F5EAFE"/>
          </a:solidFill>
          <a:ln w="25400">
            <a:solidFill>
              <a:srgbClr val="A10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59752" y="2148840"/>
            <a:ext cx="40233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50073"/>
                </a:solidFill>
              </a:rPr>
              <a:t>“una parte fissa che copre spese decise a livello nazionale, come gli incentivi alle rinnovabili”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14400" y="4736592"/>
            <a:ext cx="10195560" cy="1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99262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5555"/>
                </a:solidFill>
              </a:rPr>
              <a:t>NUMERO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53218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50505"/>
                </a:solidFill>
              </a:rPr>
              <a:t>Identico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251960" y="499262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5555"/>
                </a:solidFill>
              </a:rPr>
              <a:t>MECCANISMO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51960" y="53218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50505"/>
                </a:solidFill>
              </a:rPr>
              <a:t>Esplicitato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001000" y="49926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50073"/>
                </a:solidFill>
              </a:rPr>
              <a:t>COMPRENSIONE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01000" y="53218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50073"/>
                </a:solidFill>
              </a:rPr>
              <a:t>Finalmente possibile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A5A5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 stanze. Un simulatore. Il costo reale.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dal vivo — npm run dev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3246120" cy="3429000"/>
          </a:xfrm>
          <a:prstGeom prst="roundRect">
            <a:avLst>
              <a:gd name="adj" fmla="val 2254"/>
            </a:avLst>
          </a:prstGeom>
          <a:solidFill>
            <a:srgbClr val="F6F6F6"/>
          </a:solidFill>
          <a:ln w="12700">
            <a:solidFill>
              <a:srgbClr val="DDDDDD"/>
            </a:solidFill>
            <a:prstDash val="solid"/>
          </a:ln>
          <a:effectLst>
            <a:outerShdw blurRad="15240" dist="762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28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50073"/>
                </a:solidFill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50505"/>
                </a:solidFill>
              </a:rPr>
              <a:t>Hub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3218688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A4A"/>
                </a:solidFill>
              </a:rPr>
              <a:t>Scegli il livello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4A4A4A"/>
                </a:solidFill>
              </a:rPr>
              <a:t>e l’area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80560" y="1554480"/>
            <a:ext cx="3246120" cy="3429000"/>
          </a:xfrm>
          <a:prstGeom prst="roundRect">
            <a:avLst>
              <a:gd name="adj" fmla="val 2254"/>
            </a:avLst>
          </a:prstGeom>
          <a:solidFill>
            <a:srgbClr val="F4E8FF"/>
          </a:solidFill>
          <a:ln w="25400">
            <a:solidFill>
              <a:srgbClr val="A100FF"/>
            </a:solidFill>
            <a:prstDash val="solid"/>
          </a:ln>
          <a:effectLst>
            <a:outerShdw blurRad="15240" dist="762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828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100FF"/>
                </a:solidFill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709160" y="2514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50505"/>
                </a:solidFill>
              </a:rPr>
              <a:t>Bolletta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709160" y="3218688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A4A"/>
                </a:solidFill>
              </a:rPr>
              <a:t>Voci spiegate +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4A4A4A"/>
                </a:solidFill>
              </a:rPr>
              <a:t>slider kWh → costi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75320" y="1554480"/>
            <a:ext cx="3246120" cy="3429000"/>
          </a:xfrm>
          <a:prstGeom prst="roundRect">
            <a:avLst>
              <a:gd name="adj" fmla="val 2254"/>
            </a:avLst>
          </a:prstGeom>
          <a:solidFill>
            <a:srgbClr val="F6F6F6"/>
          </a:solidFill>
          <a:ln w="12700">
            <a:solidFill>
              <a:srgbClr val="DDDDDD"/>
            </a:solidFill>
            <a:prstDash val="solid"/>
          </a:ln>
          <a:effectLst>
            <a:outerShdw blurRad="15240" dist="762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03920" y="1828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400D1"/>
                </a:solidFill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503920" y="2514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50505"/>
                </a:solidFill>
              </a:rPr>
              <a:t>Rata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503920" y="3218688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A4A"/>
                </a:solidFill>
              </a:rPr>
              <a:t>Totale, capitale,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4A4A4A"/>
                </a:solidFill>
              </a:rPr>
              <a:t>interessi e piano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5072" y="3264408"/>
            <a:ext cx="365760" cy="1"/>
          </a:xfrm>
          <a:prstGeom prst="line">
            <a:avLst/>
          </a:prstGeom>
          <a:noFill/>
          <a:ln w="25400">
            <a:solidFill>
              <a:srgbClr val="777777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799832" y="3264408"/>
            <a:ext cx="365760" cy="1"/>
          </a:xfrm>
          <a:prstGeom prst="line">
            <a:avLst/>
          </a:prstGeom>
          <a:noFill/>
          <a:ln w="25400">
            <a:solidFill>
              <a:srgbClr val="777777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822192" y="5413248"/>
            <a:ext cx="4526280" cy="384048"/>
          </a:xfrm>
          <a:prstGeom prst="roundRect">
            <a:avLst>
              <a:gd name="adj" fmla="val 19048"/>
            </a:avLst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895344" y="5486400"/>
            <a:ext cx="4379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Glossario cliccabile sempre a portata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A5A5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Descrivere il meccanismo. Mai suggerire la mossa.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regola che governa ogni riga e ogni calcolo.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100FF"/>
                </a:solidFill>
              </a:rPr>
              <a:t>SPIEGHIAMO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come funziona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un numero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37960" y="14813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DBDBD"/>
                </a:solidFill>
              </a:rPr>
              <a:t>NON DECIDIAMO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37960" y="18745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B9B9B"/>
                </a:solidFill>
              </a:rPr>
              <a:t>che cosa fare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797296" y="1417320"/>
            <a:ext cx="1" cy="347472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892040"/>
            <a:ext cx="3246120" cy="768096"/>
          </a:xfrm>
          <a:prstGeom prst="roundRect">
            <a:avLst>
              <a:gd name="adj" fmla="val 4762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5047488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1A3FF"/>
                </a:solidFill>
              </a:rPr>
              <a:t>LINGUAGGIO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92808" y="50109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Semplificato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62272" y="4892040"/>
            <a:ext cx="3246120" cy="768096"/>
          </a:xfrm>
          <a:prstGeom prst="roundRect">
            <a:avLst>
              <a:gd name="adj" fmla="val 4762"/>
            </a:avLst>
          </a:prstGeom>
          <a:solidFill>
            <a:srgbClr val="141414"/>
          </a:solidFill>
          <a:ln w="25400">
            <a:solidFill>
              <a:srgbClr val="A100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5047488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1A3FF"/>
                </a:solidFill>
              </a:rPr>
              <a:t>NUMERI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0" y="50109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Mai semplificati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38744" y="4892040"/>
            <a:ext cx="3246120" cy="768096"/>
          </a:xfrm>
          <a:prstGeom prst="roundRect">
            <a:avLst>
              <a:gd name="adj" fmla="val 4762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21624" y="5047488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1A3FF"/>
                </a:solidFill>
              </a:rPr>
              <a:t>FORMULE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445752" y="50109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Esatte: TAEG e ammortamento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C2C2C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Costruita da una pipeline di agenti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Ruoli separati. Passaggi verificabili. Lavoro parallelo.</a:t>
            </a:r>
            <a:endParaRPr lang="en-US" sz="1200" dirty="0"/>
          </a:p>
        </p:txBody>
      </p:sp>
      <p:pic>
        <p:nvPicPr>
          <p:cNvPr id="4" name="Image 0" descr="/mnt/data/work_finanzachiara/e9136113cf.png"/>
          <p:cNvPicPr>
            <a:picLocks noChangeAspect="1"/>
          </p:cNvPicPr>
          <p:nvPr/>
        </p:nvPicPr>
        <p:blipFill>
          <a:blip r:embed="rId3"/>
          <a:srcRect l="5168" r="5168"/>
          <a:stretch/>
        </p:blipFill>
        <p:spPr>
          <a:xfrm>
            <a:off x="5486400" y="1298448"/>
            <a:ext cx="6702552" cy="4983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444752"/>
            <a:ext cx="4480560" cy="932688"/>
          </a:xfrm>
          <a:prstGeom prst="roundRect">
            <a:avLst>
              <a:gd name="adj" fmla="val 4902"/>
            </a:avLst>
          </a:prstGeom>
          <a:solidFill>
            <a:srgbClr val="111111">
              <a:alpha val="95000"/>
            </a:srgbClr>
          </a:solidFill>
          <a:ln w="25400">
            <a:solidFill>
              <a:srgbClr val="A100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58191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ORCHESTRATOR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611880" y="157276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1A3FF"/>
                </a:solidFill>
              </a:rPr>
              <a:t>Opus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192938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D0D0"/>
                </a:solidFill>
              </a:rPr>
              <a:t>coordina · assegna · verifica le dipendenze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4360" y="2724912"/>
            <a:ext cx="4480560" cy="932688"/>
          </a:xfrm>
          <a:prstGeom prst="roundRect">
            <a:avLst>
              <a:gd name="adj" fmla="val 4902"/>
            </a:avLst>
          </a:prstGeom>
          <a:solidFill>
            <a:srgbClr val="111111">
              <a:alpha val="9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86207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DEV · CODE REVIEW · TESTER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611880" y="28529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1A3FF"/>
                </a:solidFill>
              </a:rPr>
              <a:t>Sonnet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320954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D0D0"/>
                </a:solidFill>
              </a:rPr>
              <a:t>scrivono · rivedono · testano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94360" y="4005072"/>
            <a:ext cx="4480560" cy="932688"/>
          </a:xfrm>
          <a:prstGeom prst="roundRect">
            <a:avLst>
              <a:gd name="adj" fmla="val 4902"/>
            </a:avLst>
          </a:prstGeom>
          <a:solidFill>
            <a:srgbClr val="111111">
              <a:alpha val="9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414223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GITHUB PM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611880" y="413308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1A3FF"/>
                </a:solidFill>
              </a:rPr>
              <a:t>Haiku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2960" y="448970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D0D0"/>
                </a:solidFill>
              </a:rPr>
              <a:t>apre le PR · aggiorna il board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12648" y="5468112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Ogni Issue passa da sviluppo, revisione, test e chiusura.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C2C2C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Issue. 2 finestre parallele. ~2 ore.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Flusso tema → design → mvp. Stima di piano sulla critical path.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050505"/>
                </a:solidFill>
              </a:rPr>
              <a:t>8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85800" y="25328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0505"/>
                </a:solidFill>
              </a:rPr>
              <a:t>Issue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94436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4A4A"/>
                </a:solidFill>
              </a:rPr>
              <a:t>ordinate per dipendenze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34840" y="150876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A100FF"/>
                </a:solidFill>
              </a:rPr>
              <a:t>2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4434840" y="25328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0505"/>
                </a:solidFill>
              </a:rPr>
              <a:t>finestre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34840" y="294436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4A4A"/>
                </a:solidFill>
              </a:rPr>
              <a:t>di lavoro parallelo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83880" y="150876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050505"/>
                </a:solidFill>
              </a:rPr>
              <a:t>~2h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8183880" y="25328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0505"/>
                </a:solidFill>
              </a:rPr>
              <a:t>stimate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83880" y="294436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4A4A"/>
                </a:solidFill>
              </a:rPr>
              <a:t>di sviluppo sulla critical path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60120" y="3977640"/>
            <a:ext cx="10058400" cy="1"/>
          </a:xfrm>
          <a:prstGeom prst="line">
            <a:avLst/>
          </a:prstGeom>
          <a:noFill/>
          <a:ln w="38100">
            <a:solidFill>
              <a:srgbClr val="D8D8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3785616"/>
            <a:ext cx="384048" cy="384048"/>
          </a:xfrm>
          <a:prstGeom prst="ellipse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43525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0505"/>
                </a:solidFill>
              </a:rPr>
              <a:t>TEMA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87952" y="3785616"/>
            <a:ext cx="384048" cy="384048"/>
          </a:xfrm>
          <a:prstGeom prst="ellipse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95344" y="43525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0505"/>
                </a:solidFill>
              </a:rPr>
              <a:t>DESIGN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555480" y="3785616"/>
            <a:ext cx="384048" cy="384048"/>
          </a:xfrm>
          <a:prstGeom prst="ellipse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62872" y="43525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100FF"/>
                </a:solidFill>
              </a:rPr>
              <a:t>MVP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3977640"/>
            <a:ext cx="1" cy="914400"/>
          </a:xfrm>
          <a:prstGeom prst="line">
            <a:avLst/>
          </a:prstGeom>
          <a:noFill/>
          <a:ln w="25400">
            <a:solidFill>
              <a:srgbClr val="A100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15000" y="3977640"/>
            <a:ext cx="1" cy="914400"/>
          </a:xfrm>
          <a:prstGeom prst="line">
            <a:avLst/>
          </a:prstGeom>
          <a:noFill/>
          <a:ln w="25400">
            <a:solidFill>
              <a:srgbClr val="A100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86784" y="50109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</a:rPr>
              <a:t>context + dati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02936" y="50109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</a:rPr>
              <a:t>stanze + glossario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096512" y="55321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100FF"/>
                </a:solidFill>
              </a:rPr>
              <a:t>parallelismo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A5A5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Dove vogliamo arrivare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stesso perimetro etico, più in grande. Questo è il to-be, non l’oggi.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1572768"/>
            <a:ext cx="3429000" cy="3401568"/>
          </a:xfrm>
          <a:prstGeom prst="roundRect">
            <a:avLst>
              <a:gd name="adj" fmla="val 1613"/>
            </a:avLst>
          </a:prstGeom>
          <a:solidFill>
            <a:srgbClr val="121212"/>
          </a:solidFill>
          <a:ln w="25400">
            <a:solidFill>
              <a:srgbClr val="A10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1A3FF"/>
                </a:solidFill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395728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Dalla bolletta d’esempio alla tua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346704"/>
            <a:ext cx="29260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CFCF"/>
                </a:solidFill>
              </a:rPr>
              <a:t>Un agente AI estrae le voci dal documento reale.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FCFCF"/>
                </a:solidFill>
              </a:rPr>
              <a:t>L’app le spiega al livello scelto.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62272" y="1572768"/>
            <a:ext cx="3429000" cy="3401568"/>
          </a:xfrm>
          <a:prstGeom prst="roundRect">
            <a:avLst>
              <a:gd name="adj" fmla="val 1613"/>
            </a:avLst>
          </a:prstGeom>
          <a:solidFill>
            <a:srgbClr val="12121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18304" y="182880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1A3FF"/>
                </a:solidFill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18304" y="2395728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Domande libere, al tuo livello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18304" y="3346704"/>
            <a:ext cx="29260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CFCF"/>
                </a:solidFill>
              </a:rPr>
              <a:t>Chiedi su una voce o sulla rata.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FCFCF"/>
                </a:solidFill>
              </a:rPr>
              <a:t>Sempre “spiega”, mai “consiglia”.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66176" y="1572768"/>
            <a:ext cx="3429000" cy="3401568"/>
          </a:xfrm>
          <a:prstGeom prst="roundRect">
            <a:avLst>
              <a:gd name="adj" fmla="val 1613"/>
            </a:avLst>
          </a:prstGeom>
          <a:solidFill>
            <a:srgbClr val="12121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22208" y="182880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1A3FF"/>
                </a:solidFill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522208" y="2395728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Nuovi scenari e contenuti vivi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22208" y="3346704"/>
            <a:ext cx="29260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CFCF"/>
                </a:solidFill>
              </a:rPr>
              <a:t>Estratto conto, busta paga, affitto.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FCFCF"/>
                </a:solidFill>
              </a:rPr>
              <a:t>Contenuti allineati quando cambiano le tariffe.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" y="5358384"/>
            <a:ext cx="10881360" cy="1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5577840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Sempre spiegare. Mai consigliare.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C2C2C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9464040" y="0"/>
            <a:ext cx="2724912" cy="6446520"/>
          </a:xfrm>
          <a:prstGeom prst="rect">
            <a:avLst/>
          </a:prstGeom>
          <a:solidFill>
            <a:srgbClr val="1C002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75720" y="0"/>
            <a:ext cx="713232" cy="6446520"/>
          </a:xfrm>
          <a:prstGeom prst="rect">
            <a:avLst/>
          </a:prstGeom>
          <a:solidFill>
            <a:srgbClr val="A100FF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950976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FinanzaChiara, in chiaro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9385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100FF"/>
                </a:solidFill>
              </a:rPr>
              <a:t>METODO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0" y="1883664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Repo, board e pipeline di agenti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77977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100FF"/>
                </a:solidFill>
              </a:rPr>
              <a:t>CODICE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0" y="2724912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Tutto su Git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362102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100FF"/>
                </a:solidFill>
              </a:rPr>
              <a:t>MVP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0" y="3566160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Componenti, data layer e test end-to-end,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in esecuzione locale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4690872"/>
            <a:ext cx="6080760" cy="1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956048"/>
            <a:ext cx="5989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La chiarezza non nasce nascondendo i numeri, ma spiegandoli.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40080" y="5870448"/>
            <a:ext cx="598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1A3FF"/>
                </a:solidFill>
              </a:rPr>
              <a:t>Le tue bollette e i tuoi prestiti, finalmente in chiaro.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03720" y="53492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FFFFFF"/>
                </a:solidFill>
              </a:rPr>
              <a:t>GRAZIE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C2C2C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Accenture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FinanzaChiara</dc:title>
  <dc:subject>FinanzaChiara - pitch hackathon</dc:subject>
  <dc:creator>Amici, Flavio</dc:creator>
  <cp:lastModifiedBy>Amici, Flavio</cp:lastModifiedBy>
  <cp:revision>3</cp:revision>
  <dcterms:created xsi:type="dcterms:W3CDTF">2026-09-14T13:02:48Z</dcterms:created>
  <dcterms:modified xsi:type="dcterms:W3CDTF">2026-09-14T13:05:16Z</dcterms:modified>
</cp:coreProperties>
</file>